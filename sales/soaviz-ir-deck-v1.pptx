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보여드릴 것은 AI 영상 생성 도구가 아닙니다. 영상은 Runway가, 이미지는 Midjourney가 이미 잘 만듭니다. 저는 그 도구들이 절대 해주지 않는 일을 하러 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이건 가설이 아니라 제 작업실 풍경이었습니다. 일주일 전에 만든 캐릭터의 프롬프트를 찾지 못해 시리즈가 멈췄습니다. 끊긴 건 파일이 아니라 작품이었습니다. 이 문제의 이름은 Context Loss입니다.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 모델 가격은 매 분기 내려가고 품질은 수렴합니다. 생성기를 하나 더 만드는 건 의미가 없습니다. AI 생성이 범용재가 되는 지금이, 그 위의 운영 레이어를 선점할 유일한 타이밍입니다.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해법은 단순합니다. 창작의 모든 조각이 한 곳에 살게 하는 겁니다. 중요한 건 저장이 아니라 연결입니다. 그래서 저희는 이것을 툴이 아니라 OS라고 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길게 설명하지 않겠습니다. 지금 soaviz.com에 접속하시면 직접 써보실 수 있습니다. 처음엔 제가 쓰려고 만들었고, 만들다 보니 MVP가 됐고, 같은 고통을 겪는 창작자들이 같이 쓰고 싶다고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생성기 회사의 본능은 더 좋은 모델, 더 빠른 생성입니다. 그들의 로드맵은 모델 경쟁에 묶여 있습니다. 창작자는 한 생성기만 쓰지 않습니다. 우리의 해자는 사용자가 우리 안에 쌓는 기억입니다.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 숫자보다 구조가 중요합니다. 생성 시장은 가격이 내려가며 커지고, 워크플로우 시장은 사용자가 쌓일수록 단가가 올라가며 커집니다. 개발 도구 시장에서 같은 구조가 이미 증명됐습니다.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개인은 신용카드로 2만 원, 기관은 계약서로 들어옵니다. 기관 시장에서 BYOK는 기능이 아니라 보안 요건입니다. '키를 저희가 보관하지 않습니다' — 이 한 문장이 기관 문을 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GTM에서 가진 불공정한 이점은 제 이력입니다. 미술관 도슨트, 실감미디어 전시, 홍익대 대학원 — 1순위 타깃 시장의 언어를 모국어로 씁니다. 콜드콜이 아니라 아는 문을 두드리며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솔직하겠습니다. 아직 매출 그래프를 보여드릴 단계가 아닙니다. 대신 작동하는 제품, 외부 심사의 문제 정의 인정, 진행 중인 파일럿 파이프라인이 있습니다. 다음 IR에서는 이 자리에 파일럿 3건의 리포트가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로드맵의 원칙은 하나입니다. Sora 5가 나오든 Kling 7이 나오든, 새 엔진이 나올 때마다 저희 통합 목록이 하나 늘어날 뿐입니다. 엔진 경쟁이 치열할수록 그 위의 OS는 더 필요해집니다.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 슬라이드에서 흐름이 끊긴 창작자의 별이 사라진다고 말씀드렸습니다. 감성적으로 들리실 수 있지만 이것은 동시에 매우 차가운 비즈니스입니다 — 쌓일수록 떠날 수 없는 워크플로우 레이어이고, 생성 시장의 가격 전쟁에서 비켜선 포지션입니다. 별을 지키는 일과 해자를 쌓는 일이 같은 일인 회사, SOAVIZ입니다.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7992" y="932688"/>
            <a:ext cx="128016" cy="128016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057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시대 창작자의 Creative Production 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6974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“Runway가 영상을 만들면,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SOAVIZ는 그 영상이 만들어진 이유와 과정을 기억합니다.”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3712464"/>
            <a:ext cx="1097280" cy="0"/>
          </a:xfrm>
          <a:prstGeom prst="line">
            <a:avLst/>
          </a:prstGeom>
          <a:noFill/>
          <a:ln w="12700">
            <a:solidFill>
              <a:srgbClr val="34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8587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이은교 · Founder   |   soaviz.com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창작의 흐름이 끊기는 순간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691640" cy="530352"/>
          </a:xfrm>
          <a:prstGeom prst="roundRect">
            <a:avLst>
              <a:gd name="adj" fmla="val 12069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916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929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103120"/>
            <a:ext cx="1691640" cy="530352"/>
          </a:xfrm>
          <a:prstGeom prst="roundRect">
            <a:avLst>
              <a:gd name="adj" fmla="val 12069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21488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95728" y="23865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691640" cy="530352"/>
          </a:xfrm>
          <a:prstGeom prst="roundRect">
            <a:avLst>
              <a:gd name="adj" fmla="val 12069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432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9809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다운로드 폴더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3291840"/>
            <a:ext cx="1691640" cy="530352"/>
          </a:xfrm>
          <a:prstGeom prst="roundRect">
            <a:avLst>
              <a:gd name="adj" fmla="val 12069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33375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v1·v2·v3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04288" y="35753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 다른 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886200"/>
            <a:ext cx="1691640" cy="530352"/>
          </a:xfrm>
          <a:prstGeom prst="roundRect">
            <a:avLst>
              <a:gd name="adj" fmla="val 12069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9319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" y="41696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메신저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창은 10개, 맥락은 0개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1600200"/>
            <a:ext cx="4251960" cy="1417320"/>
          </a:xfrm>
          <a:prstGeom prst="roundRect">
            <a:avLst>
              <a:gd name="adj" fmla="val 4516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Context Loss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63440" y="213969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프롬프트가 어떤 결과를 만들었는지 사흘이면 잊힌다.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생성은 1분, 정리와 복구에 쓰는 시간은 그 몇 배.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3246120"/>
            <a:ext cx="4251960" cy="1417320"/>
          </a:xfrm>
          <a:prstGeom prst="roundRect">
            <a:avLst>
              <a:gd name="adj" fmla="val 4516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40156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“창작자의 흐름이 끊긴다는 것은,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세상에 빛을 보지도 못한 채 사라져가는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별 하나를 잃는 일입니다.”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생성의 시대는 끝났고, 운영의 시대가 시작됐다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워크플로우 레이어 — 비어 있는 자리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개발자의 GitHub 같은 '작업의 집'이 아직 없다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▲  가치 이동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36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엔진 — 범용재로 수렴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Runway · Kling · Sora · Luma · Suno — 월 $12~35 가격 경쟁 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0416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헤비 유저는 이미 단일 생성기를 떠나 멀티모델 허브로 이동 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1645920"/>
            <a:ext cx="3749040" cy="1463040"/>
          </a:xfrm>
          <a:prstGeom prst="roundRect">
            <a:avLst>
              <a:gd name="adj" fmla="val 4375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$4.35B → $12.85B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66360" y="230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in Creator Economy, 2025 → 2029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66360" y="2578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CAGR 31.1% — 가장 빠른 세그먼트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3291840"/>
            <a:ext cx="3749040" cy="1234440"/>
          </a:xfrm>
          <a:prstGeom prst="roundRect">
            <a:avLst>
              <a:gd name="adj" fmla="val 5185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474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클라우드가 범용재가 됐을 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GitHub과 Notion이 그 위에서 컸다.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지금이 운영 레이어 선점의 타이밍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 — 창작 컨텍스트를 보존하는 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3776" y="155448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600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65376" y="155448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5376" y="1600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시나리오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36976" y="155448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600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캐릭터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08576" y="155448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600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세계관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0176" y="155448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600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51776" y="1554480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1776" y="1600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79576" y="215798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22037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51176" y="215798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22037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사운드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22776" y="215798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22776" y="22037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94376" y="215798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4376" y="22037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65976" y="215798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B1A2E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5976" y="220370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11680" y="29260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221A45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30358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 — 하나의 창작 흐름으로 연결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0" y="38221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Continue, not Restart — 어제 끊긴 지점에서 오늘 다시 시작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0" y="4224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줄 정의 — Notion + Drive + Frame.io + AI Workflow Orchestration의 창작자 버전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엔진(Runway·Kling·Sora·ElevenLabs)은 SOAVIZ 아래에서 호출되는 인티그레이션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 작동하는 제품 — soaviz.com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이어가기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Studio · Today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마지막 컷·프롬프트·할 일이 남아 있는 시작 화면. 매 세션이 '계속하기'로 시작된다.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45920"/>
            <a:ext cx="260604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8728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샷 리스트 · 버전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38728" y="24871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샷마다 프롬프트·시드·버전(v1·v2·v3★)이 자동 누적. 캐릭터 Bible은 생성 시 자동 주입.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645920"/>
            <a:ext cx="2606040" cy="54864"/>
          </a:xfrm>
          <a:prstGeom prst="rect">
            <a:avLst/>
          </a:prstGeom>
          <a:solidFill>
            <a:srgbClr val="FF6B3F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승인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7648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Team OS · Shot Board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27648" y="24871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승인/반려 워크플로우, 공유 라이브러리, 사용량 로그, Team API Vault까지 구현 완료.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611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라이브:  </a:t>
            </a:r>
            <a:pPr indent="0" marL="0">
              <a:buNone/>
            </a:pPr>
            <a:r>
              <a:rPr lang="en-US" sz="11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soaviz.com/app</a:t>
            </a:r>
            <a:pPr indent="0" marL="0">
              <a:buNone/>
            </a:pPr>
            <a:r>
              <a:rPr lang="en-US" sz="11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(개인)    </a:t>
            </a:r>
            <a:pPr indent="0" marL="0">
              <a:buNone/>
            </a:pPr>
            <a:r>
              <a:rPr lang="en-US" sz="11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soaviz.com/team-os</a:t>
            </a:r>
            <a:pPr indent="0" marL="0">
              <a:buNone/>
            </a:pPr>
            <a:r>
              <a:rPr lang="en-US" sz="11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(Team OS)  —  지금 접속 가능한 MVP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우리는 생성기와 경쟁하지 않는다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8308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도구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파는 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2860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좋은 1컷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끊기지 않는 창작 흐름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52928"/>
            <a:ext cx="1234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2852928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파일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779776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과정·맥락·자산의 작업실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19856"/>
            <a:ext cx="1234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3419856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346704"/>
            <a:ext cx="4343400" cy="0"/>
          </a:xfrm>
          <a:prstGeom prst="line">
            <a:avLst/>
          </a:prstGeom>
          <a:noFill/>
          <a:ln w="6350">
            <a:solidFill>
              <a:srgbClr val="3432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419856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도구는 인티그레이션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57800" y="1600200"/>
            <a:ext cx="3429000" cy="3063240"/>
          </a:xfrm>
          <a:prstGeom prst="roundRect">
            <a:avLst>
              <a:gd name="adj" fmla="val 2090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진짜 해자는 기능이 아니라 축적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2295144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5650992" y="21945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Project Memory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0" y="2679192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5650992" y="25786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Asset Lineage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0" y="3063240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5650992" y="2962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Version History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0" y="3447288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5650992" y="33467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Approval Workflow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0" y="3831336"/>
            <a:ext cx="64008" cy="640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3730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Institutional Memory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0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쓸수록 창작 세계가 쌓이고, 옮길 수 없게 된다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160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“Runway가 이 기능을 붙이면?” — 멀티 엔진 위의 중립 레이어는 엔진 회사가 가질 수 없는 포지션이다.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시장이 아니라 운영 시장을 센다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108960" cy="3108960"/>
          </a:xfrm>
          <a:prstGeom prst="ellipse">
            <a:avLst/>
          </a:prstGeom>
          <a:solidFill>
            <a:srgbClr val="151424"/>
          </a:solidFill>
          <a:ln w="12700">
            <a:solidFill>
              <a:srgbClr val="34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993392"/>
            <a:ext cx="2048256" cy="2048256"/>
          </a:xfrm>
          <a:prstGeom prst="ellipse">
            <a:avLst/>
          </a:prstGeom>
          <a:solidFill>
            <a:srgbClr val="1B1A2E"/>
          </a:solidFill>
          <a:ln w="12700">
            <a:solidFill>
              <a:srgbClr val="34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2907792"/>
            <a:ext cx="877824" cy="877824"/>
          </a:xfrm>
          <a:prstGeom prst="ellipse">
            <a:avLst/>
          </a:prstGeom>
          <a:solidFill>
            <a:srgbClr val="221A45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910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Creator Economy $117B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2121408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in Creator Economy $12.85B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55648" y="320040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600200"/>
            <a:ext cx="54864" cy="8961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워크플로우 레이어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19842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창작자가 생성기 구독 위에 추가로 결제하는 자리 — 개발자 시장의 GitHub·Linear 포지션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297680" y="2624328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624328"/>
            <a:ext cx="54864" cy="896112"/>
          </a:xfrm>
          <a:prstGeom prst="rect">
            <a:avLst/>
          </a:prstGeom>
          <a:solidFill>
            <a:srgbClr val="FF6B3F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715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구조적 우위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00837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시장은 가격이 내려가며 큰다. 워크플로우 시장은 사용자가 쌓일수록 단가가 올라간다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297680" y="3648456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648456"/>
            <a:ext cx="54864" cy="89611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739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시장 (한국)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40325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1인 AI 크리에이터 + 콘텐츠 제작 기관·대학·공공 — 글로벌 확장 전 검증 무대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40080" y="47183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컴파일러는 공짜가 됐지만 GitHub은 $7.5B였다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개인은 크레딧, 조직은 BYOK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931920" cy="2743200"/>
          </a:xfrm>
          <a:prstGeom prst="roundRect">
            <a:avLst>
              <a:gd name="adj" fmla="val 2333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39319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개인 — Creator Workflow SaaS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크레딧 기반 · 셀프서브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Free ₩0 (100cr) → Creator ₩19,900 (1,000cr)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Pro Creator ₩49,900 (3,000cr)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키 없이 가입 즉시 시작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크레딧은 생성에만 — 정리·메모리·버전은 무료 (락인 가속)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앵커: Runway Pro $35 · Krea Pro $35와 동일선상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931920" cy="2743200"/>
          </a:xfrm>
          <a:prstGeom prst="roundRect">
            <a:avLst>
              <a:gd name="adj" fmla="val 2333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600200"/>
            <a:ext cx="3931920" cy="54864"/>
          </a:xfrm>
          <a:prstGeom prst="rect">
            <a:avLst/>
          </a:prstGeom>
          <a:solidFill>
            <a:srgbClr val="FF6B3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783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팀/기관 — Team Production 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84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BYOK · 도입 문의형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395728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4주 파일럿(세팅+온보딩 교육+샘플 프로젝트+리포트)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월 구독 전환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기관 관리자가 자체 API 키 직접 입력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SOAVIZ는 raw key를 전달받지 않는다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 요건이 곧 영업 무기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과금 항목: 승인·버전·아카이브·비용 로그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0" y="45537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사용자가 자기 기관에 SOAVIZ를 들고 들어간다 — 두 모터는 연결되어 있다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내가 가장 잘 아는 문에서 시작한다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221A45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221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문화기관 · 미술관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4352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파운더 경력 직결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12848" y="3273552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221A45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2576" y="3346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22576" y="3621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대학 · AI 교육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22576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수업 단위 도입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77056" y="2798064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221A45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86784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지자체 · 공공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86784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교육형 온보딩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41264" y="2322576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50992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제작사 · 광고팀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50992" y="2926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후순위 진입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05472" y="1847088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방송국 · 스튜디오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0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장기 최대 시장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4736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여기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141732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설계 — 파일럿 3건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186537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문화기관 (전시 숏폼 3편)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대학 (한 학기 수업)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소형 제작팀 — 영업 키트 완료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TRACTION /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검증의 첫 신호들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121408"/>
            <a:ext cx="7498080" cy="0"/>
          </a:xfrm>
          <a:prstGeom prst="line">
            <a:avLst/>
          </a:prstGeom>
          <a:noFill/>
          <a:ln w="12700">
            <a:solidFill>
              <a:srgbClr val="34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066544"/>
            <a:ext cx="109728" cy="109728"/>
          </a:xfrm>
          <a:prstGeom prst="ellipse">
            <a:avLst/>
          </a:prstGeom>
          <a:solidFill>
            <a:srgbClr val="FF6B3F"/>
          </a:solidFill>
          <a:ln w="12700">
            <a:solidFill>
              <a:srgbClr val="FF6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개인적 고통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창작자 본인의 Context Loss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42616" y="2066544"/>
            <a:ext cx="109728" cy="109728"/>
          </a:xfrm>
          <a:prstGeom prst="ellipse">
            <a:avLst/>
          </a:prstGeom>
          <a:solidFill>
            <a:srgbClr val="FF6B3F"/>
          </a:solidFill>
          <a:ln w="12700">
            <a:solidFill>
              <a:srgbClr val="FF6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나를 위한 도구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20240" y="23042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쓰려고 제작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17136" y="2066544"/>
            <a:ext cx="109728" cy="109728"/>
          </a:xfrm>
          <a:prstGeom prst="ellipse">
            <a:avLst/>
          </a:prstGeom>
          <a:solidFill>
            <a:srgbClr val="FF6B3F"/>
          </a:solidFill>
          <a:ln w="12700">
            <a:solidFill>
              <a:srgbClr val="FF6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MVP 완성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94760" y="23042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soaviz.com 정식 운영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91656" y="2066544"/>
            <a:ext cx="109728" cy="109728"/>
          </a:xfrm>
          <a:prstGeom prst="ellipse">
            <a:avLst/>
          </a:prstGeom>
          <a:solidFill>
            <a:srgbClr val="FF6B3F"/>
          </a:solidFill>
          <a:ln w="12700">
            <a:solidFill>
              <a:srgbClr val="FF6B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모두의 창업 1라운드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0" y="23042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심사 통과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66176" y="2066544"/>
            <a:ext cx="109728" cy="109728"/>
          </a:xfrm>
          <a:prstGeom prst="ellipse">
            <a:avLst/>
          </a:prstGeom>
          <a:solidFill>
            <a:srgbClr val="0B0A14"/>
          </a:solidFill>
          <a:ln w="12700">
            <a:solidFill>
              <a:srgbClr val="FF6B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파일럿 3건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23042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마일스톤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821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'모두의 창업' 심사평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349300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“Context Loss 문제 정의가 명확하다.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콘텐츠 제작 그래프 접근이 인상적이다.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MVP 구축을 완료했다.”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3017520"/>
            <a:ext cx="2788920" cy="1554480"/>
          </a:xfrm>
          <a:prstGeom prst="roundRect">
            <a:avLst>
              <a:gd name="adj" fmla="val 4118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외 준비 완료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크레딧·플랜·결제 인프라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기관 영업 키트 2종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파운더 = 첫 헤비 유저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64008" cy="64008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기억하는 작업실에서, 창작 세계의 인프라로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B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06040" cy="2240280"/>
          </a:xfrm>
          <a:prstGeom prst="roundRect">
            <a:avLst>
              <a:gd name="adj" fmla="val 2857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28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~3개월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157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 정식 오픈 (Stripe)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파일럿 3건 실행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Free→유료 전환률 검증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2606040" cy="2240280"/>
          </a:xfrm>
          <a:prstGeom prst="roundRect">
            <a:avLst>
              <a:gd name="adj" fmla="val 2857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45920"/>
            <a:ext cx="260604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828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~6개월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8728" y="2157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38728" y="24871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Team OS 정식 도입 1호 기관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Asset Lineage 고도화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리포트 자동화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606040" cy="2240280"/>
          </a:xfrm>
          <a:prstGeom prst="roundRect">
            <a:avLst>
              <a:gd name="adj" fmla="val 2857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645920"/>
            <a:ext cx="2606040" cy="54864"/>
          </a:xfrm>
          <a:prstGeom prst="rect">
            <a:avLst/>
          </a:prstGeom>
          <a:solidFill>
            <a:srgbClr val="FF6B3F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828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~12개월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7648" y="2157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7648" y="24871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Institutional Memory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글로벌 베타 (영어)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171229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33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원칙 — </a:t>
            </a:r>
            <a:pPr indent="0" marL="0">
              <a:buNone/>
            </a:pPr>
            <a:r>
              <a:rPr lang="en-US" sz="1200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우리는 영원히 생성 모델을 만들지 않는다. 새 엔진이 나올수록 우리는 강해진다.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9704" y="566928"/>
            <a:ext cx="164592" cy="164592"/>
          </a:xfrm>
          <a:prstGeom prst="ellipse">
            <a:avLst/>
          </a:prstGeom>
          <a:solidFill>
            <a:srgbClr val="FF6B3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868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 지켜주실 것은 별입니다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627632"/>
            <a:ext cx="6400800" cy="603504"/>
          </a:xfrm>
          <a:prstGeom prst="roundRect">
            <a:avLst>
              <a:gd name="adj" fmla="val 10606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7739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1691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기관 파일럿 파트너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167335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문화기관 · 대학 · 공공 — 4주, 도입 지원 포함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2340864"/>
            <a:ext cx="6400800" cy="603504"/>
          </a:xfrm>
          <a:prstGeom prst="roundRect">
            <a:avLst>
              <a:gd name="adj" fmla="val 10606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4871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2404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시드 라운드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38658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인프라 40% · 영업 30% · 채용 30%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3054096"/>
            <a:ext cx="6400800" cy="603504"/>
          </a:xfrm>
          <a:prstGeom prst="roundRect">
            <a:avLst>
              <a:gd name="adj" fmla="val 10606"/>
            </a:avLst>
          </a:prstGeom>
          <a:solidFill>
            <a:srgbClr val="151424"/>
          </a:solidFill>
          <a:ln w="9525">
            <a:solidFill>
              <a:srgbClr val="34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2004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31181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기관 네트워크 연결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09981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미술관 · 방송국 · 대학 의사결정자 소개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4B2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개인용은 창작자의 기억을 지켜주는 SaaS. 팀용은 조직의 AI 제작 과정을 운영하는 Production OS.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0EF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만드는 시대일수록, 만들어진 과정의 가치는 올라갑니다.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ai@soaviz.com   ·   soaviz.com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SOAVIZ — Creative Production OS</dc:title>
  <dc:subject>PptxGenJS Presentation</dc:subject>
  <dc:creator>이은교 · SOAVIZ</dc:creator>
  <cp:lastModifiedBy>이은교 · SOAVIZ</cp:lastModifiedBy>
  <cp:revision>1</cp:revision>
  <dcterms:created xsi:type="dcterms:W3CDTF">2026-06-11T06:52:16Z</dcterms:created>
  <dcterms:modified xsi:type="dcterms:W3CDTF">2026-06-11T06:52:16Z</dcterms:modified>
</cp:coreProperties>
</file>